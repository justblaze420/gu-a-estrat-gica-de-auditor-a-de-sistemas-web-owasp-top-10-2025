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media23.webm" ContentType="video/webm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7" r:id="rId5"/>
    <p:sldMasterId id="2147483659" r:id="rId6"/>
    <p:sldMasterId id="214748366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5.xml"/><Relationship Id="rId5" Type="http://schemas.openxmlformats.org/officeDocument/2006/relationships/slideMaster" Target="slideMasters/slideMaster7.xml"/><Relationship Id="rId6" Type="http://schemas.openxmlformats.org/officeDocument/2006/relationships/slideMaster" Target="slideMasters/slideMaster8.xml"/><Relationship Id="rId7" Type="http://schemas.openxmlformats.org/officeDocument/2006/relationships/slideMaster" Target="slideMasters/slideMaster1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Relationship Id="rId3" Type="http://schemas.openxmlformats.org/officeDocument/2006/relationships/image" Target="../media/image7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Relationship Id="rId3" Type="http://schemas.openxmlformats.org/officeDocument/2006/relationships/image" Target="../media/image7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jpeg"/><Relationship Id="rId3" Type="http://schemas.openxmlformats.org/officeDocument/2006/relationships/image" Target="../media/image7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jpeg"/><Relationship Id="rId3" Type="http://schemas.openxmlformats.org/officeDocument/2006/relationships/image" Target="../media/image7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_AND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9;p1"/>
          <p:cNvPicPr/>
          <p:nvPr/>
        </p:nvPicPr>
        <p:blipFill>
          <a:blip r:embed="rId3"/>
          <a:stretch/>
        </p:blipFill>
        <p:spPr>
          <a:xfrm>
            <a:off x="4938480" y="5497560"/>
            <a:ext cx="1951560" cy="99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2;p1"/>
          <p:cNvPicPr/>
          <p:nvPr/>
        </p:nvPicPr>
        <p:blipFill>
          <a:blip r:embed="rId4"/>
          <a:stretch/>
        </p:blipFill>
        <p:spPr>
          <a:xfrm>
            <a:off x="205200" y="521640"/>
            <a:ext cx="2722320" cy="28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13;p1"/>
          <p:cNvSpPr/>
          <p:nvPr/>
        </p:nvSpPr>
        <p:spPr>
          <a:xfrm>
            <a:off x="375840" y="3368160"/>
            <a:ext cx="11483280" cy="360"/>
          </a:xfrm>
          <a:prstGeom prst="straightConnector1">
            <a:avLst/>
          </a:prstGeom>
          <a:noFill/>
          <a:ln w="19080">
            <a:solidFill>
              <a:srgbClr val="D9C19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Google Shape;14;p1"/>
          <p:cNvPicPr/>
          <p:nvPr/>
        </p:nvPicPr>
        <p:blipFill>
          <a:blip r:embed="rId5"/>
          <a:stretch/>
        </p:blipFill>
        <p:spPr>
          <a:xfrm>
            <a:off x="7562160" y="562320"/>
            <a:ext cx="199692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15;p1"/>
          <p:cNvPicPr/>
          <p:nvPr/>
        </p:nvPicPr>
        <p:blipFill>
          <a:blip r:embed="rId6"/>
          <a:stretch/>
        </p:blipFill>
        <p:spPr>
          <a:xfrm>
            <a:off x="9934920" y="608040"/>
            <a:ext cx="144756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Google Shape;16;p1"/>
          <p:cNvSpPr/>
          <p:nvPr/>
        </p:nvSpPr>
        <p:spPr>
          <a:xfrm>
            <a:off x="9753480" y="689760"/>
            <a:ext cx="360" cy="413280"/>
          </a:xfrm>
          <a:prstGeom prst="straightConnector1">
            <a:avLst/>
          </a:prstGeom>
          <a:noFill/>
          <a:ln w="19080">
            <a:solidFill>
              <a:srgbClr val="BF975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;p1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9;p1"/>
          <p:cNvPicPr/>
          <p:nvPr/>
        </p:nvPicPr>
        <p:blipFill>
          <a:blip r:embed="rId3"/>
          <a:stretch/>
        </p:blipFill>
        <p:spPr>
          <a:xfrm>
            <a:off x="4938480" y="5497560"/>
            <a:ext cx="1951560" cy="99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oogle Shape;12;p1"/>
          <p:cNvPicPr/>
          <p:nvPr/>
        </p:nvPicPr>
        <p:blipFill>
          <a:blip r:embed="rId4"/>
          <a:stretch/>
        </p:blipFill>
        <p:spPr>
          <a:xfrm>
            <a:off x="205200" y="521640"/>
            <a:ext cx="2722320" cy="28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Google Shape;13;p1"/>
          <p:cNvSpPr/>
          <p:nvPr/>
        </p:nvSpPr>
        <p:spPr>
          <a:xfrm>
            <a:off x="375840" y="3368160"/>
            <a:ext cx="11483280" cy="360"/>
          </a:xfrm>
          <a:prstGeom prst="straightConnector1">
            <a:avLst/>
          </a:prstGeom>
          <a:noFill/>
          <a:ln w="19080">
            <a:solidFill>
              <a:srgbClr val="D9C19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Google Shape;14;p1"/>
          <p:cNvPicPr/>
          <p:nvPr/>
        </p:nvPicPr>
        <p:blipFill>
          <a:blip r:embed="rId5"/>
          <a:stretch/>
        </p:blipFill>
        <p:spPr>
          <a:xfrm>
            <a:off x="7562160" y="562320"/>
            <a:ext cx="199692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15;p1"/>
          <p:cNvPicPr/>
          <p:nvPr/>
        </p:nvPicPr>
        <p:blipFill>
          <a:blip r:embed="rId6"/>
          <a:stretch/>
        </p:blipFill>
        <p:spPr>
          <a:xfrm>
            <a:off x="9934920" y="608040"/>
            <a:ext cx="1447560" cy="5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16;p1"/>
          <p:cNvSpPr/>
          <p:nvPr/>
        </p:nvSpPr>
        <p:spPr>
          <a:xfrm>
            <a:off x="9753480" y="689760"/>
            <a:ext cx="360" cy="413280"/>
          </a:xfrm>
          <a:prstGeom prst="straightConnector1">
            <a:avLst/>
          </a:prstGeom>
          <a:noFill/>
          <a:ln w="19080">
            <a:solidFill>
              <a:srgbClr val="BF975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67;p14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Google Shape;73;p14"/>
          <p:cNvSpPr/>
          <p:nvPr/>
        </p:nvSpPr>
        <p:spPr>
          <a:xfrm>
            <a:off x="0" y="-9360"/>
            <a:ext cx="122400" cy="1349640"/>
          </a:xfrm>
          <a:prstGeom prst="rect">
            <a:avLst/>
          </a:prstGeom>
          <a:solidFill>
            <a:srgbClr val="9B23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Google Shape;74;p14"/>
          <p:cNvPicPr/>
          <p:nvPr/>
        </p:nvPicPr>
        <p:blipFill>
          <a:blip r:embed="rId3"/>
          <a:stretch/>
        </p:blipFill>
        <p:spPr>
          <a:xfrm>
            <a:off x="10476000" y="213480"/>
            <a:ext cx="132660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67;p14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73;p14"/>
          <p:cNvSpPr/>
          <p:nvPr/>
        </p:nvSpPr>
        <p:spPr>
          <a:xfrm>
            <a:off x="0" y="-9360"/>
            <a:ext cx="122400" cy="1349640"/>
          </a:xfrm>
          <a:prstGeom prst="rect">
            <a:avLst/>
          </a:prstGeom>
          <a:solidFill>
            <a:srgbClr val="9B23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74;p14"/>
          <p:cNvPicPr/>
          <p:nvPr/>
        </p:nvPicPr>
        <p:blipFill>
          <a:blip r:embed="rId3"/>
          <a:stretch/>
        </p:blipFill>
        <p:spPr>
          <a:xfrm>
            <a:off x="10476000" y="213480"/>
            <a:ext cx="132660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124;p27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127;p27"/>
          <p:cNvPicPr/>
          <p:nvPr/>
        </p:nvPicPr>
        <p:blipFill>
          <a:blip r:embed="rId3"/>
          <a:stretch/>
        </p:blipFill>
        <p:spPr>
          <a:xfrm>
            <a:off x="10476000" y="213480"/>
            <a:ext cx="132660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24;p27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127;p27"/>
          <p:cNvPicPr/>
          <p:nvPr/>
        </p:nvPicPr>
        <p:blipFill>
          <a:blip r:embed="rId3"/>
          <a:stretch/>
        </p:blipFill>
        <p:spPr>
          <a:xfrm>
            <a:off x="10476000" y="213480"/>
            <a:ext cx="132660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238;p53"/>
          <p:cNvPicPr/>
          <p:nvPr/>
        </p:nvPicPr>
        <p:blipFill>
          <a:blip r:embed="rId2"/>
          <a:stretch/>
        </p:blipFill>
        <p:spPr>
          <a:xfrm>
            <a:off x="1800" y="144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239;p53"/>
          <p:cNvSpPr/>
          <p:nvPr/>
        </p:nvSpPr>
        <p:spPr>
          <a:xfrm>
            <a:off x="2860200" y="2574000"/>
            <a:ext cx="8278560" cy="864000"/>
          </a:xfrm>
          <a:prstGeom prst="rect">
            <a:avLst/>
          </a:prstGeom>
          <a:gradFill rotWithShape="0">
            <a:gsLst>
              <a:gs pos="0">
                <a:srgbClr val="1D5D4C"/>
              </a:gs>
              <a:gs pos="100000">
                <a:srgbClr val="1D5D4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Google Shape;243;p53"/>
          <p:cNvPicPr/>
          <p:nvPr/>
        </p:nvPicPr>
        <p:blipFill>
          <a:blip r:embed="rId3"/>
          <a:stretch/>
        </p:blipFill>
        <p:spPr>
          <a:xfrm>
            <a:off x="5331600" y="4685400"/>
            <a:ext cx="175932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244;p53"/>
          <p:cNvPicPr/>
          <p:nvPr/>
        </p:nvPicPr>
        <p:blipFill>
          <a:blip r:embed="rId4"/>
          <a:stretch/>
        </p:blipFill>
        <p:spPr>
          <a:xfrm>
            <a:off x="621720" y="779040"/>
            <a:ext cx="3879000" cy="40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238;p53"/>
          <p:cNvPicPr/>
          <p:nvPr/>
        </p:nvPicPr>
        <p:blipFill>
          <a:blip r:embed="rId2"/>
          <a:stretch/>
        </p:blipFill>
        <p:spPr>
          <a:xfrm>
            <a:off x="1800" y="144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239;p53"/>
          <p:cNvSpPr/>
          <p:nvPr/>
        </p:nvSpPr>
        <p:spPr>
          <a:xfrm>
            <a:off x="2860200" y="2574000"/>
            <a:ext cx="8278560" cy="864000"/>
          </a:xfrm>
          <a:prstGeom prst="rect">
            <a:avLst/>
          </a:prstGeom>
          <a:gradFill rotWithShape="0">
            <a:gsLst>
              <a:gs pos="0">
                <a:srgbClr val="1D5D4C"/>
              </a:gs>
              <a:gs pos="100000">
                <a:srgbClr val="1D5D4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243;p53"/>
          <p:cNvPicPr/>
          <p:nvPr/>
        </p:nvPicPr>
        <p:blipFill>
          <a:blip r:embed="rId3"/>
          <a:stretch/>
        </p:blipFill>
        <p:spPr>
          <a:xfrm>
            <a:off x="5331600" y="4685400"/>
            <a:ext cx="175932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244;p53"/>
          <p:cNvPicPr/>
          <p:nvPr/>
        </p:nvPicPr>
        <p:blipFill>
          <a:blip r:embed="rId4"/>
          <a:stretch/>
        </p:blipFill>
        <p:spPr>
          <a:xfrm>
            <a:off x="621720" y="779040"/>
            <a:ext cx="3879000" cy="40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238;p53"/>
          <p:cNvPicPr/>
          <p:nvPr/>
        </p:nvPicPr>
        <p:blipFill>
          <a:blip r:embed="rId2"/>
          <a:stretch/>
        </p:blipFill>
        <p:spPr>
          <a:xfrm>
            <a:off x="1800" y="144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239;p53"/>
          <p:cNvSpPr/>
          <p:nvPr/>
        </p:nvSpPr>
        <p:spPr>
          <a:xfrm>
            <a:off x="2860200" y="2574000"/>
            <a:ext cx="8278560" cy="864000"/>
          </a:xfrm>
          <a:prstGeom prst="rect">
            <a:avLst/>
          </a:prstGeom>
          <a:gradFill rotWithShape="0">
            <a:gsLst>
              <a:gs pos="0">
                <a:srgbClr val="1D5D4C"/>
              </a:gs>
              <a:gs pos="100000">
                <a:srgbClr val="1D5D4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Google Shape;243;p53"/>
          <p:cNvPicPr/>
          <p:nvPr/>
        </p:nvPicPr>
        <p:blipFill>
          <a:blip r:embed="rId3"/>
          <a:stretch/>
        </p:blipFill>
        <p:spPr>
          <a:xfrm>
            <a:off x="5331600" y="4685400"/>
            <a:ext cx="1759320" cy="63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244;p53"/>
          <p:cNvPicPr/>
          <p:nvPr/>
        </p:nvPicPr>
        <p:blipFill>
          <a:blip r:embed="rId4"/>
          <a:stretch/>
        </p:blipFill>
        <p:spPr>
          <a:xfrm>
            <a:off x="621720" y="779040"/>
            <a:ext cx="3879000" cy="40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F40A6E-3CA9-4F55-8D4A-44815D063B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jpe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9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80;p40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Google Shape;183;p40"/>
          <p:cNvSpPr/>
          <p:nvPr/>
        </p:nvSpPr>
        <p:spPr>
          <a:xfrm>
            <a:off x="1893960" y="6308640"/>
            <a:ext cx="9980640" cy="360"/>
          </a:xfrm>
          <a:prstGeom prst="straightConnector1">
            <a:avLst/>
          </a:prstGeom>
          <a:noFill/>
          <a:ln w="57240">
            <a:solidFill>
              <a:srgbClr val="1D5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187;p40"/>
          <p:cNvPicPr/>
          <p:nvPr/>
        </p:nvPicPr>
        <p:blipFill>
          <a:blip r:embed="rId3"/>
          <a:stretch/>
        </p:blipFill>
        <p:spPr>
          <a:xfrm>
            <a:off x="295920" y="5937120"/>
            <a:ext cx="1438920" cy="73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188;p40"/>
          <p:cNvPicPr/>
          <p:nvPr/>
        </p:nvPicPr>
        <p:blipFill>
          <a:blip r:embed="rId4"/>
          <a:stretch/>
        </p:blipFill>
        <p:spPr>
          <a:xfrm>
            <a:off x="10476000" y="213480"/>
            <a:ext cx="132660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738720"/>
            <a:ext cx="10972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n 4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Imagen 5"/>
          <p:cNvPicPr/>
          <p:nvPr/>
        </p:nvPicPr>
        <p:blipFill>
          <a:blip r:embed="rId3"/>
          <a:stretch/>
        </p:blipFill>
        <p:spPr>
          <a:xfrm>
            <a:off x="10476000" y="213480"/>
            <a:ext cx="1326960" cy="47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540720"/>
            <a:ext cx="1097208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s-MX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MX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1"/>
          </p:nvPr>
        </p:nvSpPr>
        <p:spPr>
          <a:xfrm>
            <a:off x="5561640" y="6356520"/>
            <a:ext cx="5399280" cy="28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2"/>
          </p:nvPr>
        </p:nvSpPr>
        <p:spPr>
          <a:xfrm>
            <a:off x="11139840" y="6356520"/>
            <a:ext cx="719280" cy="28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MX" sz="1000" b="0" u="none" strike="noStrike">
                <a:solidFill>
                  <a:schemeClr val="dk1">
                    <a:tint val="75000"/>
                    <a:lumMod val="50000"/>
                    <a:lumOff val="50000"/>
                  </a:schemeClr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D355AE-A3D1-4887-B342-AF3D5CB94CAB}" type="slidenum">
              <a:rPr lang="es-MX" sz="1000" b="0" u="none" strike="noStrike">
                <a:solidFill>
                  <a:schemeClr val="dk1">
                    <a:tint val="75000"/>
                    <a:lumMod val="50000"/>
                    <a:lumOff val="50000"/>
                  </a:schemeClr>
                </a:solidFill>
                <a:effectLst/>
                <a:uFillTx/>
                <a:latin typeface="Noto Sans"/>
                <a:ea typeface="Noto Sans"/>
              </a:rPr>
              <a:t>&lt;number&gt;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dt" idx="3"/>
          </p:nvPr>
        </p:nvSpPr>
        <p:spPr>
          <a:xfrm>
            <a:off x="3943800" y="6356520"/>
            <a:ext cx="1439280" cy="28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video" Target="../media/media23.webm"/><Relationship Id="rId2" Type="http://schemas.microsoft.com/office/2007/relationships/media" Target="../media/media23.webm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owasp.org/Top10/2025/0x00_2025-Introduction/" TargetMode="External"/><Relationship Id="rId2" Type="http://schemas.openxmlformats.org/officeDocument/2006/relationships/hyperlink" Target="https://nvd.nist.gov/vuln/detail/CVE-2022-31147" TargetMode="External"/><Relationship Id="rId3" Type="http://schemas.openxmlformats.org/officeDocument/2006/relationships/hyperlink" Target="https://cvereports.com/reports/CVE-2025-13465" TargetMode="External"/><Relationship Id="rId4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299;p66"/>
          <p:cNvSpPr/>
          <p:nvPr/>
        </p:nvSpPr>
        <p:spPr>
          <a:xfrm>
            <a:off x="3105720" y="1710360"/>
            <a:ext cx="8304840" cy="16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MX" sz="3600" b="1" u="none" strike="noStrike">
                <a:solidFill>
                  <a:srgbClr val="EDD99A"/>
                </a:solidFill>
                <a:effectLst/>
                <a:uFillTx/>
                <a:latin typeface="Montserrat"/>
                <a:ea typeface="Montserrat"/>
              </a:rPr>
              <a:t>Pruebas de Cumplimiento y Alineación al Marco de Referencia OWASP en la Plataforma Andrómeda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300;p66"/>
          <p:cNvSpPr/>
          <p:nvPr/>
        </p:nvSpPr>
        <p:spPr>
          <a:xfrm>
            <a:off x="4800600" y="3525480"/>
            <a:ext cx="8304840" cy="12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MX" sz="2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Proyecto de Estadías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MX" sz="2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Robbie Daniel Mejía Arroyo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301;p66"/>
          <p:cNvSpPr/>
          <p:nvPr/>
        </p:nvSpPr>
        <p:spPr>
          <a:xfrm>
            <a:off x="5067720" y="5028480"/>
            <a:ext cx="2246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s-MX" sz="1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23/04/2026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302;p66"/>
          <p:cNvSpPr/>
          <p:nvPr/>
        </p:nvSpPr>
        <p:spPr>
          <a:xfrm>
            <a:off x="-1371600" y="3525480"/>
            <a:ext cx="8304840" cy="12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MX" sz="2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Asesor 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MX" sz="2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M.C. Omar Hernández López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1275920" y="6400800"/>
            <a:ext cx="122256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34CC9A8D-C864-4655-AD66-EAD200AC770D}" type="slidenum"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fld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307;p67"/>
          <p:cNvSpPr/>
          <p:nvPr/>
        </p:nvSpPr>
        <p:spPr>
          <a:xfrm>
            <a:off x="334800" y="7704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s-MX" sz="4000" b="0" u="none" strike="noStrike">
                <a:solidFill>
                  <a:srgbClr val="9B2347"/>
                </a:solidFill>
                <a:effectLst/>
                <a:uFillTx/>
                <a:latin typeface="Noto Sans SemiBold"/>
                <a:ea typeface="Noto Sans SemiBold"/>
              </a:rPr>
              <a:t>Contenido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309;p67"/>
          <p:cNvSpPr/>
          <p:nvPr/>
        </p:nvSpPr>
        <p:spPr>
          <a:xfrm>
            <a:off x="6100560" y="4069440"/>
            <a:ext cx="601488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310;p67"/>
          <p:cNvSpPr/>
          <p:nvPr/>
        </p:nvSpPr>
        <p:spPr>
          <a:xfrm>
            <a:off x="0" y="2971800"/>
            <a:ext cx="60512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7200" y="1600200"/>
            <a:ext cx="6901560" cy="27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Introducción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Objetivo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¿Que es OWASP?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Metodologías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Herramientas Principales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Matriz de Cumplimiento OWASP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10 vulnerabilidades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Conclusiónes y trabajos futuros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Referencias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Introducción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34800" y="1341360"/>
            <a:ext cx="11523960" cy="460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El manejo de modelos econométricos y proyecciones financieras dentro de Andrómeda implica el uso de datos sensibles cuya confidencialidad es vital para la soberanía tecnológica de la CFE.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El presente proyecto se origina como una respuesta técnica para alinear los componentes de Andrómeda con los estándares internacionales de seguridad mediante el marco de referencia OWASP.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06EDBB-4C86-4EAE-B09F-0B275BB48AE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720000" y="1357920"/>
            <a:ext cx="11456640" cy="458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.Net 8.0 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Patrón CQRS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Micro servicios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C# VS community 2022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SQL Server 2022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600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Introducción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Marcador de contenido 8"/>
          <p:cNvPicPr/>
          <p:nvPr/>
        </p:nvPicPr>
        <p:blipFill>
          <a:blip r:embed="rId1"/>
          <a:stretch/>
        </p:blipFill>
        <p:spPr>
          <a:xfrm>
            <a:off x="5800680" y="1314360"/>
            <a:ext cx="2226960" cy="5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CuadroTexto 1"/>
          <p:cNvSpPr/>
          <p:nvPr/>
        </p:nvSpPr>
        <p:spPr>
          <a:xfrm>
            <a:off x="2970360" y="3550680"/>
            <a:ext cx="1344600" cy="638280"/>
          </a:xfrm>
          <a:prstGeom prst="rect">
            <a:avLst/>
          </a:prstGeom>
          <a:noFill/>
          <a:ln w="19080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MX" sz="1800" b="0" u="none" strike="noStrike">
                <a:solidFill>
                  <a:schemeClr val="accent4"/>
                </a:solidFill>
                <a:effectLst/>
                <a:uFillTx/>
                <a:latin typeface="Noto Sans"/>
                <a:ea typeface="DejaVu Sans"/>
              </a:rPr>
              <a:t>Interfaz 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s-MX" sz="1800" b="0" u="none" strike="noStrike">
                <a:solidFill>
                  <a:schemeClr val="accent4"/>
                </a:solidFill>
                <a:effectLst/>
                <a:uFillTx/>
                <a:latin typeface="Noto Sans"/>
                <a:ea typeface="DejaVu Sans"/>
              </a:rPr>
              <a:t>usuario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uadroTexto 2"/>
          <p:cNvSpPr/>
          <p:nvPr/>
        </p:nvSpPr>
        <p:spPr>
          <a:xfrm flipV="1" rot="5400000">
            <a:off x="3759480" y="3669120"/>
            <a:ext cx="3456360" cy="363960"/>
          </a:xfrm>
          <a:prstGeom prst="rect">
            <a:avLst/>
          </a:prstGeom>
          <a:noFill/>
          <a:ln w="19080">
            <a:solidFill>
              <a:srgbClr val="2F64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MX" sz="1800" b="0" u="none" strike="noStrike">
                <a:solidFill>
                  <a:schemeClr val="accent6"/>
                </a:solidFill>
                <a:effectLst/>
                <a:uFillTx/>
                <a:latin typeface="Noto Sans"/>
                <a:ea typeface="DejaVu Sans"/>
              </a:rPr>
              <a:t>Gateway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ilindro 1"/>
          <p:cNvSpPr/>
          <p:nvPr/>
        </p:nvSpPr>
        <p:spPr>
          <a:xfrm>
            <a:off x="9957960" y="2397600"/>
            <a:ext cx="1381680" cy="27126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12600">
            <a:solidFill>
              <a:srgbClr val="62113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000" tIns="90000" rIns="45000" bIns="90000" anchor="ctr" vert="vert270">
            <a:noAutofit/>
          </a:bodyPr>
          <a:p>
            <a:pPr algn="ctr" defTabSz="914400">
              <a:lnSpc>
                <a:spcPct val="100000"/>
              </a:lnSpc>
            </a:pPr>
            <a:r>
              <a:rPr lang="es-MX" sz="1800" b="0" u="none" strike="noStrike">
                <a:solidFill>
                  <a:schemeClr val="lt1"/>
                </a:solidFill>
                <a:effectLst/>
                <a:uFillTx/>
                <a:latin typeface="Noto Sans"/>
                <a:ea typeface="DejaVu Sans"/>
              </a:rPr>
              <a:t>Andrómeda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upo 1"/>
          <p:cNvGrpSpPr/>
          <p:nvPr/>
        </p:nvGrpSpPr>
        <p:grpSpPr>
          <a:xfrm>
            <a:off x="6663240" y="2122920"/>
            <a:ext cx="2303640" cy="3456360"/>
            <a:chOff x="6663240" y="2122920"/>
            <a:chExt cx="2303640" cy="3456360"/>
          </a:xfrm>
        </p:grpSpPr>
        <p:grpSp>
          <p:nvGrpSpPr>
            <p:cNvPr id="90" name="Grupo 2"/>
            <p:cNvGrpSpPr/>
            <p:nvPr/>
          </p:nvGrpSpPr>
          <p:grpSpPr>
            <a:xfrm>
              <a:off x="6663240" y="2122920"/>
              <a:ext cx="2303640" cy="1630800"/>
              <a:chOff x="6663240" y="2122920"/>
              <a:chExt cx="2303640" cy="1630800"/>
            </a:xfrm>
          </p:grpSpPr>
          <p:sp>
            <p:nvSpPr>
              <p:cNvPr id="91" name="Rectángulo redondeado 1"/>
              <p:cNvSpPr/>
              <p:nvPr/>
            </p:nvSpPr>
            <p:spPr>
              <a:xfrm>
                <a:off x="6663240" y="2122920"/>
                <a:ext cx="2303640" cy="1630800"/>
              </a:xfrm>
              <a:prstGeom prst="roundRect">
                <a:avLst>
                  <a:gd name="adj" fmla="val 7078"/>
                </a:avLst>
              </a:prstGeom>
              <a:solidFill>
                <a:srgbClr val="2B4A81">
                  <a:alpha val="1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dk1"/>
                    </a:solidFill>
                    <a:effectLst/>
                    <a:uFillTx/>
                    <a:latin typeface="Noto Sans"/>
                    <a:ea typeface="DejaVu Sans"/>
                  </a:rPr>
                  <a:t>Servicio Núcleo</a:t>
                </a:r>
                <a:endParaRPr lang="es-MX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CuadroTexto 3"/>
              <p:cNvSpPr/>
              <p:nvPr/>
            </p:nvSpPr>
            <p:spPr>
              <a:xfrm>
                <a:off x="7142760" y="2296440"/>
                <a:ext cx="1344600" cy="363960"/>
              </a:xfrm>
              <a:prstGeom prst="rect">
                <a:avLst/>
              </a:prstGeom>
              <a:noFill/>
              <a:ln w="19080">
                <a:solidFill>
                  <a:srgbClr val="2B4A8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accent4"/>
                    </a:solidFill>
                    <a:effectLst/>
                    <a:uFillTx/>
                    <a:latin typeface="Noto Sans"/>
                    <a:ea typeface="DejaVu Sans"/>
                  </a:rPr>
                  <a:t>API lectura</a:t>
                </a:r>
                <a:endParaRPr lang="es-MX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CuadroTexto 4"/>
              <p:cNvSpPr/>
              <p:nvPr/>
            </p:nvSpPr>
            <p:spPr>
              <a:xfrm>
                <a:off x="7032960" y="3183840"/>
                <a:ext cx="1563480" cy="363960"/>
              </a:xfrm>
              <a:prstGeom prst="rect">
                <a:avLst/>
              </a:prstGeom>
              <a:noFill/>
              <a:ln w="19080">
                <a:solidFill>
                  <a:srgbClr val="2B4A8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accent4"/>
                    </a:solidFill>
                    <a:effectLst/>
                    <a:uFillTx/>
                    <a:latin typeface="Noto Sans"/>
                    <a:ea typeface="DejaVu Sans"/>
                  </a:rPr>
                  <a:t>API escritura</a:t>
                </a:r>
                <a:endParaRPr lang="es-MX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4" name="Grupo 3"/>
            <p:cNvGrpSpPr/>
            <p:nvPr/>
          </p:nvGrpSpPr>
          <p:grpSpPr>
            <a:xfrm>
              <a:off x="6663240" y="3948840"/>
              <a:ext cx="2303640" cy="1630440"/>
              <a:chOff x="6663240" y="3948840"/>
              <a:chExt cx="2303640" cy="1630440"/>
            </a:xfrm>
          </p:grpSpPr>
          <p:sp>
            <p:nvSpPr>
              <p:cNvPr id="95" name="Rectángulo redondeado 2"/>
              <p:cNvSpPr/>
              <p:nvPr/>
            </p:nvSpPr>
            <p:spPr>
              <a:xfrm>
                <a:off x="6663240" y="3948840"/>
                <a:ext cx="2303640" cy="1630440"/>
              </a:xfrm>
              <a:prstGeom prst="roundRect">
                <a:avLst>
                  <a:gd name="adj" fmla="val 7078"/>
                </a:avLst>
              </a:prstGeom>
              <a:solidFill>
                <a:schemeClr val="accent2"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lt1"/>
                    </a:solidFill>
                    <a:effectLst/>
                    <a:uFillTx/>
                    <a:latin typeface="Noto Sans"/>
                    <a:ea typeface="DejaVu Sans"/>
                  </a:rPr>
                  <a:t>Servicio Escenarios</a:t>
                </a:r>
                <a:endParaRPr lang="es-MX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CuadroTexto 5"/>
              <p:cNvSpPr/>
              <p:nvPr/>
            </p:nvSpPr>
            <p:spPr>
              <a:xfrm>
                <a:off x="7142760" y="4121640"/>
                <a:ext cx="1344600" cy="363960"/>
              </a:xfrm>
              <a:prstGeom prst="rect">
                <a:avLst/>
              </a:prstGeom>
              <a:noFill/>
              <a:ln w="19080">
                <a:solidFill>
                  <a:srgbClr val="2B4A8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accent4"/>
                    </a:solidFill>
                    <a:effectLst/>
                    <a:uFillTx/>
                    <a:latin typeface="Noto Sans"/>
                    <a:ea typeface="DejaVu Sans"/>
                  </a:rPr>
                  <a:t>API lectura</a:t>
                </a:r>
                <a:endParaRPr lang="es-MX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CuadroTexto 6"/>
              <p:cNvSpPr/>
              <p:nvPr/>
            </p:nvSpPr>
            <p:spPr>
              <a:xfrm>
                <a:off x="7032960" y="5009400"/>
                <a:ext cx="1563480" cy="363960"/>
              </a:xfrm>
              <a:prstGeom prst="rect">
                <a:avLst/>
              </a:prstGeom>
              <a:noFill/>
              <a:ln w="19080">
                <a:solidFill>
                  <a:srgbClr val="2B4A8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s-MX" sz="1800" b="0" u="none" strike="noStrike">
                    <a:solidFill>
                      <a:schemeClr val="accent4"/>
                    </a:solidFill>
                    <a:effectLst/>
                    <a:uFillTx/>
                    <a:latin typeface="Noto Sans"/>
                    <a:ea typeface="DejaVu Sans"/>
                  </a:rPr>
                  <a:t>API escritura</a:t>
                </a:r>
                <a:endParaRPr lang="es-MX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98" name="Conector recto de flecha 1"/>
          <p:cNvCxnSpPr>
            <a:stCxn id="86" idx="3"/>
            <a:endCxn id="87" idx="0"/>
          </p:cNvCxnSpPr>
          <p:nvPr/>
        </p:nvCxnSpPr>
        <p:spPr>
          <a:xfrm flipV="1">
            <a:off x="4314960" y="3852000"/>
            <a:ext cx="991080" cy="18360"/>
          </a:xfrm>
          <a:prstGeom prst="straightConnector1">
            <a:avLst/>
          </a:prstGeom>
          <a:ln w="28440">
            <a:solidFill>
              <a:srgbClr val="621131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99" name="Conector recto de flecha 2"/>
          <p:cNvCxnSpPr/>
          <p:nvPr/>
        </p:nvCxnSpPr>
        <p:spPr>
          <a:xfrm>
            <a:off x="5672880" y="2872440"/>
            <a:ext cx="991080" cy="720"/>
          </a:xfrm>
          <a:prstGeom prst="straightConnector1">
            <a:avLst/>
          </a:prstGeom>
          <a:ln w="28440">
            <a:solidFill>
              <a:srgbClr val="621131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0" name="Conector recto de flecha 3"/>
          <p:cNvCxnSpPr/>
          <p:nvPr/>
        </p:nvCxnSpPr>
        <p:spPr>
          <a:xfrm>
            <a:off x="8967600" y="2996280"/>
            <a:ext cx="990720" cy="720"/>
          </a:xfrm>
          <a:prstGeom prst="straightConnector1">
            <a:avLst/>
          </a:prstGeom>
          <a:ln w="28440">
            <a:solidFill>
              <a:srgbClr val="621131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1" name="Conector recto de flecha 4"/>
          <p:cNvCxnSpPr/>
          <p:nvPr/>
        </p:nvCxnSpPr>
        <p:spPr>
          <a:xfrm>
            <a:off x="5672880" y="4708080"/>
            <a:ext cx="991080" cy="720"/>
          </a:xfrm>
          <a:prstGeom prst="straightConnector1">
            <a:avLst/>
          </a:prstGeom>
          <a:ln w="28440">
            <a:solidFill>
              <a:srgbClr val="621131"/>
            </a:solidFill>
            <a:miter/>
            <a:headEnd len="med" type="triangle" w="med"/>
            <a:tailEnd len="med" type="triangle" w="med"/>
          </a:ln>
        </p:spPr>
      </p:cxnSp>
      <p:cxnSp>
        <p:nvCxnSpPr>
          <p:cNvPr id="102" name="Conector recto de flecha 5"/>
          <p:cNvCxnSpPr/>
          <p:nvPr/>
        </p:nvCxnSpPr>
        <p:spPr>
          <a:xfrm>
            <a:off x="8951760" y="4282200"/>
            <a:ext cx="991080" cy="720"/>
          </a:xfrm>
          <a:prstGeom prst="straightConnector1">
            <a:avLst/>
          </a:prstGeom>
          <a:ln w="28440">
            <a:solidFill>
              <a:srgbClr val="621131"/>
            </a:solidFill>
            <a:miter/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Objetivo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34800" y="1341360"/>
            <a:ext cx="11523960" cy="460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Identificar brechas críticas, tales como inyecciones de código y debilidades ante ataques de fuerza bruta, garantizando la integridad en el procesamiento de datos y la continuidad operativa de la aplicación web bajo estándares de disponibilidad y seguridad.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2A93E6-1110-4E2F-B082-C08A6DE0B5E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¿Que es OWASP    ?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34800" y="1341360"/>
            <a:ext cx="11523960" cy="460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OWASP (Open Web Application Security Project) es una organización internacional sin fines de lucro enfocada en mejorar la seguridad del software. 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OWASP desarrolla y publica: 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Documentación sobre vulnerabilidades comunes (OWASP, 2025)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Estándares de desarrollo seguro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Guías de buenas prácticas de seguridad (OWASP Top 10)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Herramientas open source para el análisis de vulnerabilidades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4220640" y="425520"/>
            <a:ext cx="461520" cy="45684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ED57B9-6462-436B-93BA-41DB2925156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Metodologías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334800" y="1341360"/>
            <a:ext cx="11523960" cy="460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DAST (Pruebas dinámicas de seguridad de aplicaciones)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Operan desde el exterior, interactuando con la aplicación tal como lo haría un usuario o un atacante real. Estas herramientas ponen a prueba el sistema mientras está funcionando, enviando peticiones maliciosas para observar cómo responde.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SAST (Pruebas estáticas de seguridad de aplicaciones)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Estas herramientas analizan directamente el código fuente, binarios o dependencias de la aplicación sin ejecutar el sistema. Su función es realizar una inspección estructural y lógica para identificar, de manera temprana, vulnerabilidades de seguridad, malas prácticas de desarrollo y la presencia de credenciales o secretos expuestos dentro del software.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CFDCAD-1983-47A0-90C2-184A74C0655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878040" y="4489560"/>
            <a:ext cx="1424520" cy="432360"/>
          </a:xfrm>
          <a:prstGeom prst="rect">
            <a:avLst/>
          </a:prstGeom>
          <a:noFill/>
          <a:ln w="756000">
            <a:noFill/>
          </a:ln>
        </p:spPr>
      </p:pic>
      <p:pic>
        <p:nvPicPr>
          <p:cNvPr id="111" name=""/>
          <p:cNvPicPr/>
          <p:nvPr/>
        </p:nvPicPr>
        <p:blipFill>
          <a:blip r:embed="rId2"/>
          <a:stretch/>
        </p:blipFill>
        <p:spPr>
          <a:xfrm>
            <a:off x="1960920" y="3512520"/>
            <a:ext cx="521640" cy="277920"/>
          </a:xfrm>
          <a:prstGeom prst="rect">
            <a:avLst/>
          </a:prstGeom>
          <a:noFill/>
          <a:ln w="756000">
            <a:noFill/>
          </a:ln>
        </p:spPr>
      </p:pic>
      <p:pic>
        <p:nvPicPr>
          <p:cNvPr id="112" name=""/>
          <p:cNvPicPr/>
          <p:nvPr/>
        </p:nvPicPr>
        <p:blipFill>
          <a:blip r:embed="rId3"/>
          <a:stretch/>
        </p:blipFill>
        <p:spPr>
          <a:xfrm>
            <a:off x="682920" y="5673960"/>
            <a:ext cx="2928240" cy="456480"/>
          </a:xfrm>
          <a:prstGeom prst="rect">
            <a:avLst/>
          </a:prstGeom>
          <a:noFill/>
          <a:ln w="756000">
            <a:noFill/>
          </a:ln>
        </p:spPr>
      </p:pic>
      <p:pic>
        <p:nvPicPr>
          <p:cNvPr id="113" name=""/>
          <p:cNvPicPr/>
          <p:nvPr/>
        </p:nvPicPr>
        <p:blipFill>
          <a:blip r:embed="rId4"/>
          <a:stretch/>
        </p:blipFill>
        <p:spPr>
          <a:xfrm>
            <a:off x="2025720" y="1883520"/>
            <a:ext cx="996840" cy="38664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73680" y="22860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Herramientas para pruebas pentesting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67800" y="1872000"/>
            <a:ext cx="11523960" cy="460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OWASP 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SQLmap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Nmap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100" b="0" u="none" strike="noStrike">
                <a:solidFill>
                  <a:schemeClr val="dk1"/>
                </a:solidFill>
                <a:effectLst/>
                <a:uFillTx/>
                <a:latin typeface="Noto Sans"/>
                <a:ea typeface="Noto Sans"/>
              </a:rPr>
              <a:t> 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62845E-763F-4EAD-829C-3FDFE15BB4A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Matriz de Cumplimiento OWASP Top 10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"/>
          <p:cNvGraphicFramePr/>
          <p:nvPr/>
        </p:nvGraphicFramePr>
        <p:xfrm>
          <a:off x="742680" y="1185840"/>
          <a:ext cx="10677960" cy="5435640"/>
        </p:xfrm>
        <a:graphic>
          <a:graphicData uri="http://schemas.openxmlformats.org/drawingml/2006/table">
            <a:tbl>
              <a:tblPr/>
              <a:tblGrid>
                <a:gridCol w="574560"/>
                <a:gridCol w="1970640"/>
                <a:gridCol w="1000440"/>
                <a:gridCol w="1168560"/>
                <a:gridCol w="2981520"/>
                <a:gridCol w="2982600"/>
              </a:tblGrid>
              <a:tr h="3981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Categoría de Riesgo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Prioridad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Complejidad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Observación / Evidencia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Recomendación Técnica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572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A01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Control de Acceso Roto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Baja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APIs abiertas y accesibles mediante peticiones directas sin requerir token de sesión o autenticación previa.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Aplicar seguridad estricta en todas las APIs, restringiendo el acceso solo a usuarios autenticados.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51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A02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Configuración Incorrecta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Ausencia de headers CSP, puertos de DB (1433, 5432) y SMB (445) expuestos, errores detallados y banners de IIS 10.0.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Configurar Content-Security-Policy, evitar exponer puertos en la medida posible, manejo de log controlado para el registro de errores.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A03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Fallas en Cadena de Suministro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Baja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Uso de componentes obsoletos y vulnerables: jQuery Validation v1.17.0, pdfmake y lodash.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Actualizar todas las librerías a sus versiones estables recientes o sustituirlas.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A04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Fallas Criptográficas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Credenciales en Texto Plano: Presencia de contraseñas de BD y Secret Keys (AWS/Azure) hardcoded en el código.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Eliminar secretos del código e implementar el uso de variables de entorno o gestores de secretos.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A05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Inyección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con sqlmap, HTMLi y XSS resultaron negativas. Cookies con atributo HttpOnly.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Mantener las políticas actuales de parametrización de consultas y codificación de salida.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A06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Diseño Inseguro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Media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hay limpieza de estado en el cliente tras el cierre de sesión (persistencia de datos en caché).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Implementar un filtro de autenticación y configurar cabeceras Cache-Control: no-store.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A07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Fallas de Autenticación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Baja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Alta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sistema permite sesiones concurrentes ilimitadas para un mismo usuario simultáneamente.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Implementar un límite de sesiones activas y mecanismos para invalidar sesiones remotas.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89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A08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Fallas de Integridad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Existe una validación estricta de extensiones permitiendo únicamente archivos .xlsx.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solo validar extensiones, también validar que el contenido no posea fórmulas maliciosas.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9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A09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Registro y Alertas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bloqueo de IP funciona de forma correcta, sin embargo, falta validar la centralización y persistencia de los logs.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Verificar que los eventos se registren en un medio inmutable y generen alertas en tiempo real.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A10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Manejo Inapropiado de Excepciones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 aplica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Las pruebas de fuzzing muestran un manejo consistente de mensajes a nivel interfaz y registro de logs.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s-MX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Continuar con pruebas de estrés y fuzzing periódicas para asegurar la resiliencia de la plataforma.</a:t>
                      </a:r>
                      <a:endParaRPr lang="es-MX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4A97DE-8FDF-4488-A24E-E74CDC94C76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315;p 6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A01: Control de Acceso Roto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318;p 8"/>
          <p:cNvSpPr/>
          <p:nvPr/>
        </p:nvSpPr>
        <p:spPr>
          <a:xfrm>
            <a:off x="134640" y="8787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321;p 6"/>
          <p:cNvSpPr/>
          <p:nvPr/>
        </p:nvSpPr>
        <p:spPr>
          <a:xfrm>
            <a:off x="228600" y="1371600"/>
            <a:ext cx="118310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 algn="just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El sistema carece de mecanismos de validación de autorización, permitiendo el acceso a recursos o la ejecución de acciones sin verificar los permisos asignados al perfil del usuario.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"/>
          <p:cNvGraphicFramePr/>
          <p:nvPr/>
        </p:nvGraphicFramePr>
        <p:xfrm>
          <a:off x="401760" y="2655720"/>
          <a:ext cx="11455560" cy="3389400"/>
        </p:xfrm>
        <a:graphic>
          <a:graphicData uri="http://schemas.openxmlformats.org/drawingml/2006/table">
            <a:tbl>
              <a:tblPr/>
              <a:tblGrid>
                <a:gridCol w="3818880"/>
                <a:gridCol w="3817800"/>
                <a:gridCol w="3819240"/>
              </a:tblGrid>
              <a:tr h="407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9334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Identificar recursos sin autenticación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Escaneo de servicios y puertos (Nmap)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Localización de interfaces (APIs) activas con acceso abierto.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38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Validar transferencia de recursos externos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Manipulación de solicitudes (curl)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sistema denegó los intentos de descarga de archivos en entornos ajenos a la plataforma.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09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Verificar la segregación de funciones (Roles)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Navegación forzada entre perfiles (Pruebas manuales)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Los mecanismos de seguridad bloquearon el acceso de un perfil a secciones exclusivas de otro perfil, emitiendo alertas de sesión.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"/>
          <p:cNvSpPr/>
          <p:nvPr/>
        </p:nvSpPr>
        <p:spPr>
          <a:xfrm>
            <a:off x="325800" y="1921680"/>
            <a:ext cx="26215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3925440" y="1391040"/>
            <a:ext cx="3994200" cy="385884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124" name="Google Shape;315;p 12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A01: Control de Acceso Roto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530960" y="5298120"/>
            <a:ext cx="28486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1 APIs accesibles sin autenticación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315;p 1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A02: Configuración de Seguridad Incorrecta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318;p 3"/>
          <p:cNvSpPr/>
          <p:nvPr/>
        </p:nvSpPr>
        <p:spPr>
          <a:xfrm>
            <a:off x="97560" y="114300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321;p 3"/>
          <p:cNvSpPr/>
          <p:nvPr/>
        </p:nvSpPr>
        <p:spPr>
          <a:xfrm>
            <a:off x="97560" y="1371600"/>
            <a:ext cx="12246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 algn="just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Usar configuraciones por defecto, servicios innecesarios activos o mostrar mensajes de error con detalles técnicos.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"/>
          <p:cNvGraphicFramePr/>
          <p:nvPr/>
        </p:nvGraphicFramePr>
        <p:xfrm>
          <a:off x="357840" y="2541600"/>
          <a:ext cx="11267640" cy="3955320"/>
        </p:xfrm>
        <a:graphic>
          <a:graphicData uri="http://schemas.openxmlformats.org/drawingml/2006/table">
            <a:tbl>
              <a:tblPr/>
              <a:tblGrid>
                <a:gridCol w="3756240"/>
                <a:gridCol w="3755160"/>
                <a:gridCol w="3756600"/>
              </a:tblGrid>
              <a:tr h="5680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9399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Auditar cabeceras de seguridad (Content Security Policy)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Escaneo dinámico (OWASP ZAP)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Ausencia de la directiva CSP lo que permitiría cargas de scripts externos.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086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Evaluar exposición de infraestructura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Escaneo de puertos (Nmap)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identificaron puertos activos relacionados con SQL y servicios de red (Puerto 445).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386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Análizar mensajes de depuración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de error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Visualización de información técnica sobre el entorno de ejecución .NET 8 / C#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348;p72"/>
          <p:cNvSpPr/>
          <p:nvPr/>
        </p:nvSpPr>
        <p:spPr>
          <a:xfrm>
            <a:off x="334800" y="8748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A02: Configuración de Seguridad Incorrecta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349;p72"/>
          <p:cNvPicPr/>
          <p:nvPr/>
        </p:nvPicPr>
        <p:blipFill>
          <a:blip r:embed="rId1"/>
          <a:stretch/>
        </p:blipFill>
        <p:spPr>
          <a:xfrm>
            <a:off x="457200" y="1828800"/>
            <a:ext cx="5772960" cy="41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Google Shape;350;p72"/>
          <p:cNvSpPr/>
          <p:nvPr/>
        </p:nvSpPr>
        <p:spPr>
          <a:xfrm>
            <a:off x="6172200" y="1953720"/>
            <a:ext cx="594288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Ejemplo de ataque sin el encabezado CSP: Clickjacking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El engaño: El usuario cree que está haciendo clic en otra página, pero en realidad el navegador registra el clic en el botón invisible de tu sitio que está debajo.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El resultado: El sistema vulnerado sin conocimiento del usuario.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050920" y="5859000"/>
            <a:ext cx="26287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2 Ataque clickjacking en el login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3441600" y="1223280"/>
            <a:ext cx="5018040" cy="525636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135" name="Google Shape;315;p 2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A02: Configuración de Seguridad Incorrecta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320000" y="6480000"/>
            <a:ext cx="31964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3 Confirmación de tecnología y lenguaje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315;p 13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A02: Configuración de Seguridad Incorrecta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318;p 1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</a:t>
            </a: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	</a:t>
            </a: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 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9" name=""/>
          <p:cNvGraphicFramePr/>
          <p:nvPr/>
        </p:nvGraphicFramePr>
        <p:xfrm>
          <a:off x="914400" y="2342160"/>
          <a:ext cx="10361880" cy="511560"/>
        </p:xfrm>
        <a:graphic>
          <a:graphicData uri="http://schemas.openxmlformats.org/drawingml/2006/table">
            <a:tbl>
              <a:tblPr/>
              <a:tblGrid>
                <a:gridCol w="3454200"/>
                <a:gridCol w="3453120"/>
                <a:gridCol w="3454920"/>
              </a:tblGrid>
              <a:tr h="5115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"/>
          <p:cNvGraphicFramePr/>
          <p:nvPr/>
        </p:nvGraphicFramePr>
        <p:xfrm>
          <a:off x="917280" y="2902680"/>
          <a:ext cx="10361880" cy="2288520"/>
        </p:xfrm>
        <a:graphic>
          <a:graphicData uri="http://schemas.openxmlformats.org/drawingml/2006/table">
            <a:tbl>
              <a:tblPr/>
              <a:tblGrid>
                <a:gridCol w="3454200"/>
                <a:gridCol w="3453120"/>
                <a:gridCol w="3454920"/>
              </a:tblGrid>
              <a:tr h="15152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Exponer Stack Traces y APIs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Auditoría de respuestas de API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Presencia de trazas de error que exponen la estructura de consultas en ciertos endpoints.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32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Identificar Sistema Operativo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tráfico (Wireshark)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Exposición de la versión del servidor web (IIS 10.0) en las cabeceras de respuesta.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315;p 3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A03: Fallas en la Cadena de Suministro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318;p 4"/>
          <p:cNvSpPr/>
          <p:nvPr/>
        </p:nvSpPr>
        <p:spPr>
          <a:xfrm>
            <a:off x="97560" y="8787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321;p 2"/>
          <p:cNvSpPr/>
          <p:nvPr/>
        </p:nvSpPr>
        <p:spPr>
          <a:xfrm>
            <a:off x="97560" y="1371600"/>
            <a:ext cx="118868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Confiar en librerías o dependencias de terceros que tienen vulnerabilidades o han sido "envenenadas" por hackers.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4" name=""/>
          <p:cNvGraphicFramePr/>
          <p:nvPr/>
        </p:nvGraphicFramePr>
        <p:xfrm>
          <a:off x="555480" y="2523600"/>
          <a:ext cx="11102760" cy="2377440"/>
        </p:xfrm>
        <a:graphic>
          <a:graphicData uri="http://schemas.openxmlformats.org/drawingml/2006/table">
            <a:tbl>
              <a:tblPr/>
              <a:tblGrid>
                <a:gridCol w="3701160"/>
                <a:gridCol w="3699720"/>
                <a:gridCol w="3702240"/>
              </a:tblGrid>
              <a:tr h="523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86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Evaluación de librerías de terceros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dependencias (OWASP ZAP)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Detección de versiones específicas de Lodash y jQuery Validation con registros de vulnerabilidades CVE.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867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automatizado de componentes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Escaneo de software (Dependency-Check)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Identificación del complemento pdfmake en una versión considerada obsoleta por los estándares actuales.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402;p79"/>
          <p:cNvSpPr/>
          <p:nvPr/>
        </p:nvSpPr>
        <p:spPr>
          <a:xfrm>
            <a:off x="334800" y="8748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A03: Fallas en la Cadena de Suministro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403;p79"/>
          <p:cNvSpPr/>
          <p:nvPr/>
        </p:nvSpPr>
        <p:spPr>
          <a:xfrm>
            <a:off x="334800" y="1143000"/>
            <a:ext cx="115236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Google Shape;404;p79"/>
          <p:cNvPicPr/>
          <p:nvPr/>
        </p:nvPicPr>
        <p:blipFill>
          <a:blip r:embed="rId1"/>
          <a:stretch/>
        </p:blipFill>
        <p:spPr>
          <a:xfrm>
            <a:off x="3060000" y="1955880"/>
            <a:ext cx="5837040" cy="188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413;p80"/>
          <p:cNvPicPr/>
          <p:nvPr/>
        </p:nvPicPr>
        <p:blipFill>
          <a:blip r:embed="rId2"/>
          <a:stretch/>
        </p:blipFill>
        <p:spPr>
          <a:xfrm>
            <a:off x="3060000" y="3839040"/>
            <a:ext cx="5764680" cy="246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318;p 5"/>
          <p:cNvSpPr/>
          <p:nvPr/>
        </p:nvSpPr>
        <p:spPr>
          <a:xfrm>
            <a:off x="76680" y="111204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Vulnerabilidades reportadas en librerías implementadas en la plataforma: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110840" y="6300000"/>
            <a:ext cx="38088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4 Vulnerabilidades registradas en ciertas librerías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315;p 4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A04: Fallas Criptográficas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318;p 6"/>
          <p:cNvSpPr/>
          <p:nvPr/>
        </p:nvSpPr>
        <p:spPr>
          <a:xfrm>
            <a:off x="97560" y="8787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321;p 4"/>
          <p:cNvSpPr/>
          <p:nvPr/>
        </p:nvSpPr>
        <p:spPr>
          <a:xfrm>
            <a:off x="97560" y="1371600"/>
            <a:ext cx="11658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No cifrar datos sensibles o usar algoritmos de cifrado obosoletos que son fáciles de romper.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"/>
          <p:cNvGraphicFramePr/>
          <p:nvPr/>
        </p:nvGraphicFramePr>
        <p:xfrm>
          <a:off x="289440" y="2544840"/>
          <a:ext cx="11089440" cy="3463200"/>
        </p:xfrm>
        <a:graphic>
          <a:graphicData uri="http://schemas.openxmlformats.org/drawingml/2006/table">
            <a:tbl>
              <a:tblPr/>
              <a:tblGrid>
                <a:gridCol w="3696840"/>
                <a:gridCol w="3695760"/>
                <a:gridCol w="3697200"/>
              </a:tblGrid>
              <a:tr h="5846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15307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secretos en código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estático (Horusec)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Identificación de credenciales, llaves de API y tokens de AWS integrados directamente en el código fuente.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478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Auditoría de cifrado en tránsito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protocolos (Wireshark)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Confirmación del uso de protocolo TLS 1.3, asegurando el cifrado robusto de toda la comunicación.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424;p82"/>
          <p:cNvSpPr/>
          <p:nvPr/>
        </p:nvSpPr>
        <p:spPr>
          <a:xfrm>
            <a:off x="334800" y="8748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A04: Fallas Criptográficas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"/>
          <p:cNvPicPr/>
          <p:nvPr/>
        </p:nvPicPr>
        <p:blipFill>
          <a:blip r:embed="rId1"/>
          <a:stretch/>
        </p:blipFill>
        <p:spPr>
          <a:xfrm>
            <a:off x="2318040" y="1184400"/>
            <a:ext cx="7401600" cy="519408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157" name=""/>
          <p:cNvSpPr/>
          <p:nvPr/>
        </p:nvSpPr>
        <p:spPr>
          <a:xfrm>
            <a:off x="3504600" y="6428160"/>
            <a:ext cx="647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5 Gráfica con las vulnerabilidades identificadas en el código estático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424;p 1"/>
          <p:cNvSpPr/>
          <p:nvPr/>
        </p:nvSpPr>
        <p:spPr>
          <a:xfrm>
            <a:off x="334800" y="19152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A04: Fallas Criptográficas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Google Shape;432;p83"/>
          <p:cNvPicPr/>
          <p:nvPr/>
        </p:nvPicPr>
        <p:blipFill>
          <a:blip r:embed="rId1"/>
          <a:srcRect l="0" t="22765" r="5" b="12208"/>
          <a:stretch/>
        </p:blipFill>
        <p:spPr>
          <a:xfrm>
            <a:off x="1705680" y="1800000"/>
            <a:ext cx="8913960" cy="457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9180000" y="4320000"/>
            <a:ext cx="1599840" cy="22824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000" tIns="63000" rIns="108000" bIns="63000" anchor="ctr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40000" y="4320000"/>
            <a:ext cx="1165680" cy="3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738960" y="6399000"/>
            <a:ext cx="54406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6 Tiempo estimado para compremeter contraseñas según su complejidad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139800" y="4091400"/>
            <a:ext cx="1599840" cy="22824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000" tIns="63000" rIns="108000" bIns="63000" anchor="ctr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22360" y="4059000"/>
            <a:ext cx="9172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Plataforma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60000" y="4344840"/>
            <a:ext cx="11800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 de Datos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315;p 5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A05: Inyección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318;p 7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321;p 5"/>
          <p:cNvSpPr/>
          <p:nvPr/>
        </p:nvSpPr>
        <p:spPr>
          <a:xfrm>
            <a:off x="109800" y="1600200"/>
            <a:ext cx="10510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La aplicación envía datos del usuario a un intérprete (SQL, XSS) sin filtrarlos, y estos se ejecutan como comandos.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9" name=""/>
          <p:cNvGraphicFramePr/>
          <p:nvPr/>
        </p:nvGraphicFramePr>
        <p:xfrm>
          <a:off x="457200" y="2971800"/>
          <a:ext cx="11422440" cy="3688200"/>
        </p:xfrm>
        <a:graphic>
          <a:graphicData uri="http://schemas.openxmlformats.org/drawingml/2006/table">
            <a:tbl>
              <a:tblPr/>
              <a:tblGrid>
                <a:gridCol w="3723480"/>
                <a:gridCol w="3021480"/>
                <a:gridCol w="4527000"/>
                <a:gridCol w="150840"/>
              </a:tblGrid>
              <a:tr h="4852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11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de inyección de bases de datos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Escaneo automatizado (sqlmap)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 plataforma demostró resiliencia, bloqueando y procesando correctamente los intentos de inyección SQL.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18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de inyección de scripts (XSS/HTMLi)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Inyección manual de código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Los bloques de código ingresados en los formularios de registro fueron neutralizados y no se ejecutaron.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30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atributos de seguridad en cookies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de tráfico de red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Detección del atributo HttpOnly, el cual asegura que las cookies solo sean procesadas por el servidor.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315;p 7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A06: Diseño Inseguro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318;p 9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321;p 7"/>
          <p:cNvSpPr/>
          <p:nvPr/>
        </p:nvSpPr>
        <p:spPr>
          <a:xfrm>
            <a:off x="97560" y="1565640"/>
            <a:ext cx="11196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 algn="just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Es un error en el diseño de la arquitectura de la aplicación, al no considerar conceptos de seguridad en su implementación.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3" name=""/>
          <p:cNvGraphicFramePr/>
          <p:nvPr/>
        </p:nvGraphicFramePr>
        <p:xfrm>
          <a:off x="457200" y="2971800"/>
          <a:ext cx="11430000" cy="1504080"/>
        </p:xfrm>
        <a:graphic>
          <a:graphicData uri="http://schemas.openxmlformats.org/drawingml/2006/table">
            <a:tbl>
              <a:tblPr/>
              <a:tblGrid>
                <a:gridCol w="3740400"/>
                <a:gridCol w="3034800"/>
                <a:gridCol w="4547160"/>
                <a:gridCol w="108000"/>
              </a:tblGrid>
              <a:tr h="457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Persistencia de datos en el cliente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de navegación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observó que información sensible que permanece en el historial o caché del navegador tras el cierre de sesión debido a la ausencia de políticas Cache-Control: no-store.</a:t>
                      </a:r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315;p 14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A06: Diseño Inseguro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0000" y="900000"/>
            <a:ext cx="4319640" cy="243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315;p 8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A07: Fallas de Autenticación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318;p 10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321;p 8"/>
          <p:cNvSpPr/>
          <p:nvPr/>
        </p:nvSpPr>
        <p:spPr>
          <a:xfrm>
            <a:off x="97560" y="1600200"/>
            <a:ext cx="11196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Permitir ataques de fuerza bruta, no tener autenticación de dos factores (MFA) o permitir contraseñas débiles.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9" name=""/>
          <p:cNvGraphicFramePr/>
          <p:nvPr/>
        </p:nvGraphicFramePr>
        <p:xfrm>
          <a:off x="340200" y="2937960"/>
          <a:ext cx="11089440" cy="3223440"/>
        </p:xfrm>
        <a:graphic>
          <a:graphicData uri="http://schemas.openxmlformats.org/drawingml/2006/table">
            <a:tbl>
              <a:tblPr/>
              <a:tblGrid>
                <a:gridCol w="3696840"/>
                <a:gridCol w="3695760"/>
                <a:gridCol w="3697200"/>
              </a:tblGrid>
              <a:tr h="5846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</a:tr>
              <a:tr h="12027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Realizar el acceso de sesiones simultáneas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(Múltiples navegadores)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sistema permite la navegación activa y ejecución de acciones en la misma cuenta desde tres navegadores distintos simultáneamente sin requerir re-autenticación.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478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Comprobar la resiliencia ante ataques de fuerza bruta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de intrusión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 plataforma activó correctamente sus mecanismos de defensa, denegando el acceso total al sistema durante 24 horas tras detectar intentos fallidos masivos.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315;p 10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A08: Fallas en la Integridad de Datos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318;p 12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321;p 10"/>
          <p:cNvSpPr/>
          <p:nvPr/>
        </p:nvSpPr>
        <p:spPr>
          <a:xfrm>
            <a:off x="144000" y="1620000"/>
            <a:ext cx="11196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Este punto trata sobre la falta de protección ante el procesamiento de información o archivos que podrían haber sido manipulados.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"/>
          <p:cNvGraphicFramePr/>
          <p:nvPr/>
        </p:nvGraphicFramePr>
        <p:xfrm>
          <a:off x="457200" y="2971800"/>
          <a:ext cx="11430000" cy="2550960"/>
        </p:xfrm>
        <a:graphic>
          <a:graphicData uri="http://schemas.openxmlformats.org/drawingml/2006/table">
            <a:tbl>
              <a:tblPr/>
              <a:tblGrid>
                <a:gridCol w="3740400"/>
                <a:gridCol w="3034800"/>
                <a:gridCol w="4547160"/>
                <a:gridCol w="108000"/>
              </a:tblGrid>
              <a:tr h="457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Validación de tipos y extensión de archivos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de carga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confirmó la restricción en los módulos de carga, permitiendo exclusivamente las extensiones requeridas.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Validar integridad de los datos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manuales de carga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 confirmó la validación de los tipos de datos esperados en los procesos de carga de archivos.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"/>
          <p:cNvPicPr/>
          <p:nvPr/>
        </p:nvPicPr>
        <p:blipFill>
          <a:blip r:embed="rId1"/>
          <a:stretch/>
        </p:blipFill>
        <p:spPr>
          <a:xfrm>
            <a:off x="2875680" y="1440000"/>
            <a:ext cx="6042600" cy="4499640"/>
          </a:xfrm>
          <a:prstGeom prst="rect">
            <a:avLst/>
          </a:prstGeom>
          <a:noFill/>
          <a:ln w="756000">
            <a:noFill/>
          </a:ln>
        </p:spPr>
      </p:pic>
      <p:sp>
        <p:nvSpPr>
          <p:cNvPr id="185" name="Google Shape;315;p 15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A08: Fallas en la Integridad de Datos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318;p 2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680000" y="5940000"/>
            <a:ext cx="24220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Fig. 7 Validación de archivos xlsx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315;p 9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A09: Fallas en Registro y Alertas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318;p 11"/>
          <p:cNvSpPr/>
          <p:nvPr/>
        </p:nvSpPr>
        <p:spPr>
          <a:xfrm>
            <a:off x="97560" y="10731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321;p 9"/>
          <p:cNvSpPr/>
          <p:nvPr/>
        </p:nvSpPr>
        <p:spPr>
          <a:xfrm>
            <a:off x="144000" y="1600200"/>
            <a:ext cx="11196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No guardar logs (registros) de eventos, uso de alertas que muestren si algo inusual ocurre en el sistema.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"/>
          <p:cNvGraphicFramePr/>
          <p:nvPr/>
        </p:nvGraphicFramePr>
        <p:xfrm>
          <a:off x="457200" y="2971800"/>
          <a:ext cx="11430000" cy="2551320"/>
        </p:xfrm>
        <a:graphic>
          <a:graphicData uri="http://schemas.openxmlformats.org/drawingml/2006/table">
            <a:tbl>
              <a:tblPr/>
              <a:tblGrid>
                <a:gridCol w="3740400"/>
                <a:gridCol w="3034800"/>
                <a:gridCol w="4547160"/>
                <a:gridCol w="108000"/>
              </a:tblGrid>
              <a:tr h="4572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Evaluación de centralización de logs a nivel de la plataforma andrómeda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administrativo y de servidor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La plataforma andrómeda cuenta con el registro de logs y alertas en todos sus procesos.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468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Evaluación de logs y alertas a nivel de red.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Análisis administrativo y de servidor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análisis de la persistencia y gestión de logs ante tráfico sospechoso quedó marcado como pendiente debido a limitaciones en los permisos de acceso a la infraestructura.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315;p 11"/>
          <p:cNvSpPr/>
          <p:nvPr/>
        </p:nvSpPr>
        <p:spPr>
          <a:xfrm>
            <a:off x="349920" y="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MX" sz="4000" b="1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A10: Mal Manejo de Condiciones Excepcionales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318;p 13"/>
          <p:cNvSpPr/>
          <p:nvPr/>
        </p:nvSpPr>
        <p:spPr>
          <a:xfrm>
            <a:off x="97560" y="1335960"/>
            <a:ext cx="115236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Descripción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2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Evaluación Tecnica: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321;p 11"/>
          <p:cNvSpPr/>
          <p:nvPr/>
        </p:nvSpPr>
        <p:spPr>
          <a:xfrm>
            <a:off x="97560" y="1800000"/>
            <a:ext cx="11196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24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s-MX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Cuando el software falla, revela información sensible o se queda en un estado inseguro (ej. el login falla, pero los fallos en el manejo de errores durante la autenticación permitan el acceso involuntario del usuario al sistema).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"/>
          <p:cNvGraphicFramePr/>
          <p:nvPr/>
        </p:nvGraphicFramePr>
        <p:xfrm>
          <a:off x="457200" y="2971800"/>
          <a:ext cx="11430000" cy="1828800"/>
        </p:xfrm>
        <a:graphic>
          <a:graphicData uri="http://schemas.openxmlformats.org/drawingml/2006/table">
            <a:tbl>
              <a:tblPr/>
              <a:tblGrid>
                <a:gridCol w="3740400"/>
                <a:gridCol w="3034800"/>
                <a:gridCol w="4547160"/>
                <a:gridCol w="108000"/>
              </a:tblGrid>
              <a:tr h="5040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Punto o Estrategia Realizada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 o Herramienta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Resultados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1D5D4D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4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Pruebas de Fuzzing (Entradas inesperadas)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Intercepción de paquetes (Burp Suite)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s-MX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El sistema procesó adecuadamente datos malformados (textos en lugar de números, fechas inexistentes como "2026-13-40"), mostrando en la interfaz mensajes genéricos y registrando en el log datos para su atención.</a:t>
                      </a:r>
                      <a:endParaRPr lang="es-MX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s-MX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34800" y="87480"/>
            <a:ext cx="993708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MX" sz="4000" b="0" u="none" strike="noStrike">
                <a:solidFill>
                  <a:srgbClr val="1D5D4D"/>
                </a:solidFill>
                <a:effectLst/>
                <a:uFillTx/>
                <a:latin typeface="Noto Sans SemiBold"/>
                <a:ea typeface="Noto Sans SemiBold"/>
              </a:rPr>
              <a:t>Conclusiónes y trabajos futuros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620000" y="1869840"/>
            <a:ext cx="91389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recomendaciones sirvieron al equipo de desarrollo para ejecutar acciones sobre las 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Vulnerabilidades encontradas</a:t>
            </a:r>
            <a:br>
              <a:rPr sz="1800"/>
            </a:b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Entregables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guia de recomendaciones para los sistemas en desarrollar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Ejecutar la guia y dar seguimiento a mecanismos de seguridad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9B5622-9739-4F5F-B946-D29FCD0050DA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522;p 1"/>
          <p:cNvSpPr/>
          <p:nvPr/>
        </p:nvSpPr>
        <p:spPr>
          <a:xfrm>
            <a:off x="334800" y="87480"/>
            <a:ext cx="9936720" cy="11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s-MX" sz="4000" b="0" u="none" strike="noStrike">
                <a:solidFill>
                  <a:srgbClr val="9B2347"/>
                </a:solidFill>
                <a:effectLst/>
                <a:uFillTx/>
                <a:latin typeface="Noto Sans SemiBold"/>
                <a:ea typeface="Noto Sans SemiBold"/>
              </a:rPr>
              <a:t>Referencias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523;p 1"/>
          <p:cNvSpPr/>
          <p:nvPr/>
        </p:nvSpPr>
        <p:spPr>
          <a:xfrm>
            <a:off x="1371600" y="1677240"/>
            <a:ext cx="9519840" cy="33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OWASP Foundation. (2025). OWASP Top 10:2025 Introduction. </a:t>
            </a:r>
            <a:r>
              <a:rPr lang="es-MX" sz="1800" b="0" u="none" strike="noStrike">
                <a:solidFill>
                  <a:srgbClr val="0000EE"/>
                </a:solidFill>
                <a:effectLst/>
                <a:uFillTx/>
                <a:latin typeface="Arial"/>
                <a:ea typeface="Arial"/>
                <a:hlinkClick r:id="rId1"/>
              </a:rPr>
              <a:t>https://owasp.org/Top10/2025/0x00_2025-Introduction/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National Institute of Standards and Technology. (2022, 14 de julio). CVE-2022-31147 Detail. National Vulnerability Database. </a:t>
            </a:r>
            <a:r>
              <a:rPr lang="es-MX" sz="1800" b="0" u="none" strike="noStrike">
                <a:solidFill>
                  <a:srgbClr val="0000EE"/>
                </a:solidFill>
                <a:effectLst/>
                <a:uFillTx/>
                <a:latin typeface="Arial"/>
                <a:ea typeface="Arial"/>
                <a:hlinkClick r:id="rId2"/>
              </a:rPr>
              <a:t>https://nvd.nist.gov/vuln/detail/CVE-2022-31147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CVE Reports. (2025). Lodash: The Delete Button for the Universe (CVE-2025-13465). </a:t>
            </a:r>
            <a:r>
              <a:rPr lang="es-MX" sz="1800" b="0" u="none" strike="noStrike">
                <a:solidFill>
                  <a:srgbClr val="0000EE"/>
                </a:solidFill>
                <a:effectLst/>
                <a:uFillTx/>
                <a:latin typeface="Arial"/>
                <a:ea typeface="Arial"/>
                <a:hlinkClick r:id="rId3"/>
              </a:rPr>
              <a:t>https://cvereports.com/reports/CVE-2025-13465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Hive Systems. (2024). Are Your Passwords in the Green? Hive Systems Blog. https://www.hivesystems.com/blog/are-your-passwords-in-the-green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528;p97"/>
          <p:cNvSpPr/>
          <p:nvPr/>
        </p:nvSpPr>
        <p:spPr>
          <a:xfrm>
            <a:off x="4407120" y="2574000"/>
            <a:ext cx="745128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s-MX" sz="3600" b="1" u="none" strike="noStrike">
                <a:solidFill>
                  <a:srgbClr val="EDD99A"/>
                </a:solidFill>
                <a:effectLst/>
                <a:uFillTx/>
                <a:latin typeface="Noto Sans"/>
                <a:ea typeface="Noto Sans"/>
              </a:rPr>
              <a:t>Gracias</a:t>
            </a:r>
            <a:endParaRPr lang="es-MX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GobM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21131"/>
      </a:accent1>
      <a:accent2>
        <a:srgbClr val="BF975C"/>
      </a:accent2>
      <a:accent3>
        <a:srgbClr val="818181"/>
      </a:accent3>
      <a:accent4>
        <a:srgbClr val="7030A0"/>
      </a:accent4>
      <a:accent5>
        <a:srgbClr val="2B4A81"/>
      </a:accent5>
      <a:accent6>
        <a:srgbClr val="2F642C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2026-04-22T17:40:04Z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